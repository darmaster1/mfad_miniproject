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228600"/>
          </a:xfrm>
          <a:prstGeom prst="rect">
            <a:avLst/>
          </a:prstGeom>
          <a:solidFill>
            <a:srgbClr val="3B5BFF"/>
          </a:solidFill>
          <a:ln w="12700">
            <a:solidFill>
              <a:srgbClr val="3B5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0" y="0"/>
            <a:ext cx="2286000" cy="228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0"/>
            <a:ext cx="2286000" cy="228600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0"/>
            <a:ext cx="2286000" cy="228600"/>
          </a:xfrm>
          <a:prstGeom prst="rect">
            <a:avLst/>
          </a:prstGeom>
          <a:solidFill>
            <a:srgbClr val="F28C0F"/>
          </a:solidFill>
          <a:ln w="12700">
            <a:solidFill>
              <a:srgbClr val="F28C0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640080"/>
            <a:ext cx="73152" cy="1371600"/>
          </a:xfrm>
          <a:prstGeom prst="rect">
            <a:avLst/>
          </a:prstGeom>
          <a:solidFill>
            <a:srgbClr val="3B5BFF"/>
          </a:solidFill>
          <a:ln w="12700">
            <a:solidFill>
              <a:srgbClr val="3B5B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59436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 Performance Prediction Using Linear Algebra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6002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RREF, Gram-Schmidt, QR Decomposition, Projection and Least Squares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24028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Mohnish Tulsian — PES1UG25AM554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Chirag H — PES1UG25AM551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Pranay KR — PES1UG25AM557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Sathvik BR — PES1UG25AM560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224028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Mathematical Foundations for AI and Data Science (MFAD)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Faculty: Prof Shwetha DS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520440"/>
            <a:ext cx="164592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5875">
            <a:solidFill>
              <a:srgbClr val="3B5B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3520440"/>
            <a:ext cx="16459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Data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377440" y="3840480"/>
            <a:ext cx="411480" cy="0"/>
          </a:xfrm>
          <a:prstGeom prst="line">
            <a:avLst/>
          </a:prstGeom>
          <a:noFill/>
          <a:ln w="22225">
            <a:solidFill>
              <a:srgbClr val="5B628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788920" y="3520440"/>
            <a:ext cx="164592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5875">
            <a:solidFill>
              <a:srgbClr val="00A99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788920" y="3520440"/>
            <a:ext cx="16459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Representation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434840" y="3840480"/>
            <a:ext cx="411480" cy="0"/>
          </a:xfrm>
          <a:prstGeom prst="line">
            <a:avLst/>
          </a:prstGeom>
          <a:noFill/>
          <a:ln w="22225">
            <a:solidFill>
              <a:srgbClr val="5B628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846320" y="3520440"/>
            <a:ext cx="164592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5875">
            <a:solidFill>
              <a:srgbClr val="F28C0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46320" y="3520440"/>
            <a:ext cx="16459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Algebra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92240" y="3840480"/>
            <a:ext cx="411480" cy="0"/>
          </a:xfrm>
          <a:prstGeom prst="line">
            <a:avLst/>
          </a:prstGeom>
          <a:noFill/>
          <a:ln w="22225">
            <a:solidFill>
              <a:srgbClr val="5B628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903720" y="3520440"/>
            <a:ext cx="164592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5875">
            <a:solidFill>
              <a:srgbClr val="FF4D6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903720" y="3520440"/>
            <a:ext cx="16459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F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0" cy="109728"/>
          </a:xfrm>
          <a:prstGeom prst="rect">
            <a:avLst/>
          </a:prstGeom>
          <a:solidFill>
            <a:srgbClr val="3B5BFF"/>
          </a:solidFill>
          <a:ln w="12700">
            <a:solidFill>
              <a:srgbClr val="3B5B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2286000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0" y="0"/>
            <a:ext cx="2286000" cy="109728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0" y="0"/>
            <a:ext cx="2286000" cy="109728"/>
          </a:xfrm>
          <a:prstGeom prst="rect">
            <a:avLst/>
          </a:prstGeom>
          <a:solidFill>
            <a:srgbClr val="F28C0F"/>
          </a:solidFill>
          <a:ln w="12700">
            <a:solidFill>
              <a:srgbClr val="F28C0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804672"/>
            <a:ext cx="82296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1248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097280"/>
            <a:ext cx="3931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performance depends on many academic and social factors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predict the final grade G3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the mathematics behind the prediction, not a black box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834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B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1089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studytime · failures · absences · G1 · G2 · freetime · goout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7490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8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 G3 — final grade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80560" y="1371600"/>
          <a:ext cx="4297680" cy="914400"/>
        </p:xfrm>
        <a:graphic>
          <a:graphicData uri="http://schemas.openxmlformats.org/drawingml/2006/table">
            <a:tbl>
              <a:tblPr/>
              <a:tblGrid>
                <a:gridCol w="696383"/>
                <a:gridCol w="596900"/>
                <a:gridCol w="646642"/>
                <a:gridCol w="397933"/>
                <a:gridCol w="397933"/>
                <a:gridCol w="616797"/>
                <a:gridCol w="547158"/>
                <a:gridCol w="397933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studytime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absences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3B5B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3B5B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freetime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goout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28C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3B5B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3B5B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28C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3B5B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3B5B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28C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3B5B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3B5B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28C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3B5B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3B5B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28C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 txBox="1"/>
          <p:nvPr/>
        </p:nvSpPr>
        <p:spPr>
          <a:xfrm>
            <a:off x="457200" y="47548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preview is illustrative — UCI Student Performance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F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Converting the Dataset into a Matrix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0" cy="109728"/>
          </a:xfrm>
          <a:prstGeom prst="rect">
            <a:avLst/>
          </a:prstGeom>
          <a:solidFill>
            <a:srgbClr val="3B5BFF"/>
          </a:solidFill>
          <a:ln w="12700">
            <a:solidFill>
              <a:srgbClr val="3B5B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2286000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0" y="0"/>
            <a:ext cx="2286000" cy="109728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0" y="0"/>
            <a:ext cx="2286000" cy="109728"/>
          </a:xfrm>
          <a:prstGeom prst="rect">
            <a:avLst/>
          </a:prstGeom>
          <a:solidFill>
            <a:srgbClr val="F28C0F"/>
          </a:solidFill>
          <a:ln w="12700">
            <a:solidFill>
              <a:srgbClr val="F28C0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804672"/>
            <a:ext cx="82296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1248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00584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F28C0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Ax ≈ b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92024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— feature matrix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— unknown coefficients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actual final grades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 — predicted final grades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0" y="1051560"/>
            <a:ext cx="411480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5875">
            <a:solidFill>
              <a:srgbClr val="3B5B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0" y="1051560"/>
            <a:ext cx="4114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1F3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 =  ⎡ 1  x₁₁  x₁₂  …  x₁ₙ ⎤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B1F3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       ⎢ 1  x₂₁  x₂₂  …  x₂ₙ ⎥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B1F3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       ⎢ ⋮    ⋮     ⋮    ⋱   ⋮  ⎥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B1F3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       ⎣ 1  xₘ₁  xₘ₂  …  xₘₙ ⎦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3017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column of 1s = intercept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611880"/>
            <a:ext cx="17373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3B5B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3611880"/>
            <a:ext cx="173736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Dataset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194560" y="3886200"/>
            <a:ext cx="457200" cy="0"/>
          </a:xfrm>
          <a:prstGeom prst="line">
            <a:avLst/>
          </a:prstGeom>
          <a:noFill/>
          <a:ln w="22225">
            <a:solidFill>
              <a:srgbClr val="5B628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651760" y="3611880"/>
            <a:ext cx="17373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0A99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651760" y="3611880"/>
            <a:ext cx="173736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Matrix 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389120" y="3886200"/>
            <a:ext cx="457200" cy="0"/>
          </a:xfrm>
          <a:prstGeom prst="line">
            <a:avLst/>
          </a:prstGeom>
          <a:noFill/>
          <a:ln w="22225">
            <a:solidFill>
              <a:srgbClr val="5B628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846320" y="3611880"/>
            <a:ext cx="17373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F28C0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46320" y="3611880"/>
            <a:ext cx="173736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Algebra Operations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583680" y="3886200"/>
            <a:ext cx="457200" cy="0"/>
          </a:xfrm>
          <a:prstGeom prst="line">
            <a:avLst/>
          </a:prstGeom>
          <a:noFill/>
          <a:ln w="22225">
            <a:solidFill>
              <a:srgbClr val="5B628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040880" y="3611880"/>
            <a:ext cx="17373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FF4D6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040880" y="3611880"/>
            <a:ext cx="173736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G3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form lets us apply linear algebra directly.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F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Independent vs Redundant Information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0" cy="109728"/>
          </a:xfrm>
          <a:prstGeom prst="rect">
            <a:avLst/>
          </a:prstGeom>
          <a:solidFill>
            <a:srgbClr val="3B5BFF"/>
          </a:solidFill>
          <a:ln w="12700">
            <a:solidFill>
              <a:srgbClr val="3B5B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2286000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0" y="0"/>
            <a:ext cx="2286000" cy="109728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0" y="0"/>
            <a:ext cx="2286000" cy="109728"/>
          </a:xfrm>
          <a:prstGeom prst="rect">
            <a:avLst/>
          </a:prstGeom>
          <a:solidFill>
            <a:srgbClr val="F28C0F"/>
          </a:solidFill>
          <a:ln w="12700">
            <a:solidFill>
              <a:srgbClr val="F28C0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804672"/>
            <a:ext cx="82296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1248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28C0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G_sum = G1 + G2   ⇒   G1 + G2 − G_sum = 0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1828800"/>
            <a:ext cx="10058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3B5B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1828800"/>
            <a:ext cx="100584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560320"/>
            <a:ext cx="10058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3B5B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2560320"/>
            <a:ext cx="100584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0" y="2194560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8C0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743200" y="2194560"/>
            <a:ext cx="11887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8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G_sum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554480" y="2057400"/>
            <a:ext cx="1188720" cy="320040"/>
          </a:xfrm>
          <a:prstGeom prst="line">
            <a:avLst/>
          </a:prstGeom>
          <a:noFill/>
          <a:ln w="22225">
            <a:solidFill>
              <a:srgbClr val="3B5BFF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 flipV="1">
            <a:off x="1554480" y="2468880"/>
            <a:ext cx="1188720" cy="320040"/>
          </a:xfrm>
          <a:prstGeom prst="line">
            <a:avLst/>
          </a:prstGeom>
          <a:noFill/>
          <a:ln w="22225">
            <a:solidFill>
              <a:srgbClr val="3B5BFF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548640" y="32004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G_sum is exactly dependent on G1 and G2.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6576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— independent columns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Nullity — dependent directions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columns — independent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columns — redundant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1783080"/>
            <a:ext cx="38404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875">
            <a:solidFill>
              <a:srgbClr val="3B5B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54880" y="1783080"/>
            <a:ext cx="38404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B5B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rank(A) = 8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754880" y="2423160"/>
            <a:ext cx="38404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875">
            <a:solidFill>
              <a:srgbClr val="D5DAF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754880" y="2423160"/>
            <a:ext cx="38404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1F3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columns = 9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754880" y="3063240"/>
            <a:ext cx="38404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875">
            <a:solidFill>
              <a:srgbClr val="F28C0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54880" y="3063240"/>
            <a:ext cx="38404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28C0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nullity = 1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4754880" y="37490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4D6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rank([A|b]) &gt; rank(A)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4754880" y="4206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exact solution to Ax = b → use least squares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F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Creating an Independent Basis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0" cy="109728"/>
          </a:xfrm>
          <a:prstGeom prst="rect">
            <a:avLst/>
          </a:prstGeom>
          <a:solidFill>
            <a:srgbClr val="3B5BFF"/>
          </a:solidFill>
          <a:ln w="12700">
            <a:solidFill>
              <a:srgbClr val="3B5B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2286000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0" y="0"/>
            <a:ext cx="2286000" cy="109728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0" y="0"/>
            <a:ext cx="2286000" cy="109728"/>
          </a:xfrm>
          <a:prstGeom prst="rect">
            <a:avLst/>
          </a:prstGeom>
          <a:solidFill>
            <a:srgbClr val="F28C0F"/>
          </a:solidFill>
          <a:ln w="12700">
            <a:solidFill>
              <a:srgbClr val="F28C0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804672"/>
            <a:ext cx="82296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1248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redundant G_sum. G1 and G2 are still strongly correlated — Gram-Schmidt makes them perpendicular.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1645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vectors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 flipV="1">
            <a:off x="914400" y="3566160"/>
            <a:ext cx="2377440" cy="365760"/>
          </a:xfrm>
          <a:prstGeom prst="line">
            <a:avLst/>
          </a:prstGeom>
          <a:noFill/>
          <a:ln w="22225">
            <a:solidFill>
              <a:srgbClr val="3B5BFF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 flipV="1">
            <a:off x="914400" y="2377440"/>
            <a:ext cx="1828800" cy="1554480"/>
          </a:xfrm>
          <a:prstGeom prst="line">
            <a:avLst/>
          </a:prstGeom>
          <a:noFill/>
          <a:ln w="22225">
            <a:solidFill>
              <a:srgbClr val="00A99D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3337560" y="34290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B5B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v₁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788920" y="21945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A99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v₂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760720" y="1645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Orthogonal vectors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852160" y="3931920"/>
            <a:ext cx="2377440" cy="0"/>
          </a:xfrm>
          <a:prstGeom prst="line">
            <a:avLst/>
          </a:prstGeom>
          <a:noFill/>
          <a:ln w="22225">
            <a:solidFill>
              <a:srgbClr val="3B5BFF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 flipV="1">
            <a:off x="5852160" y="2194560"/>
            <a:ext cx="0" cy="1737360"/>
          </a:xfrm>
          <a:prstGeom prst="line">
            <a:avLst/>
          </a:prstGeom>
          <a:noFill/>
          <a:ln w="22225">
            <a:solidFill>
              <a:srgbClr val="00A99D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8275320" y="37947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B5B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q₁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0" y="21031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0A99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q₂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852160" y="3703320"/>
            <a:ext cx="228600" cy="228600"/>
          </a:xfrm>
          <a:prstGeom prst="rect">
            <a:avLst/>
          </a:prstGeom>
          <a:ln w="12700">
            <a:solidFill>
              <a:srgbClr val="F28C0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126480" y="34747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28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90°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749040" y="283464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875">
            <a:solidFill>
              <a:srgbClr val="F28C0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749040" y="2834640"/>
            <a:ext cx="18288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8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Gram-Schmidt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 flipH="1">
            <a:off x="3566160" y="3108960"/>
            <a:ext cx="182880" cy="0"/>
          </a:xfrm>
          <a:prstGeom prst="line">
            <a:avLst/>
          </a:prstGeom>
          <a:noFill/>
          <a:ln w="22225">
            <a:solidFill>
              <a:srgbClr val="F7F8FF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577840" y="3090672"/>
            <a:ext cx="274320" cy="0"/>
          </a:xfrm>
          <a:prstGeom prst="line">
            <a:avLst/>
          </a:prstGeom>
          <a:noFill/>
          <a:ln w="22225">
            <a:solidFill>
              <a:srgbClr val="F28C0F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3291840" y="41148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28C0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 = QR</a:t>
            </a:r>
            <a:endParaRPr lang="en-US" sz="2600" dirty="0"/>
          </a:p>
        </p:txBody>
      </p:sp>
      <p:sp>
        <p:nvSpPr>
          <p:cNvPr id="27" name="Text 25"/>
          <p:cNvSpPr txBox="1"/>
          <p:nvPr/>
        </p:nvSpPr>
        <p:spPr>
          <a:xfrm>
            <a:off x="2286000" y="4526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orthonormal basis · R: upper triangular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F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 the Best Approximation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0" cy="109728"/>
          </a:xfrm>
          <a:prstGeom prst="rect">
            <a:avLst/>
          </a:prstGeom>
          <a:solidFill>
            <a:srgbClr val="3B5BFF"/>
          </a:solidFill>
          <a:ln w="12700">
            <a:solidFill>
              <a:srgbClr val="3B5B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2286000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0" y="0"/>
            <a:ext cx="2286000" cy="109728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0" y="0"/>
            <a:ext cx="2286000" cy="109728"/>
          </a:xfrm>
          <a:prstGeom prst="rect">
            <a:avLst/>
          </a:prstGeom>
          <a:solidFill>
            <a:srgbClr val="F28C0F"/>
          </a:solidFill>
          <a:ln w="12700">
            <a:solidFill>
              <a:srgbClr val="F28C0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804672"/>
            <a:ext cx="82296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1248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0058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28C0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 = QQᵀb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15544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4D6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e = b − p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0116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4D6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Aᵀe = 0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5603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A99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Rx = Qᵀb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2461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⟂ feature space.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x that minimizes total squared error.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0" y="3017520"/>
            <a:ext cx="4023360" cy="1188720"/>
          </a:xfrm>
          <a:prstGeom prst="parallelogram">
            <a:avLst/>
          </a:prstGeom>
          <a:solidFill>
            <a:srgbClr val="FFFFFF"/>
          </a:solidFill>
          <a:ln w="15875">
            <a:solidFill>
              <a:srgbClr val="D5DAF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06640" y="3886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1B1F3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Col(A)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0" y="1371600"/>
            <a:ext cx="0" cy="1828800"/>
          </a:xfrm>
          <a:prstGeom prst="line">
            <a:avLst/>
          </a:prstGeom>
          <a:noFill/>
          <a:ln w="28575">
            <a:solidFill>
              <a:srgbClr val="FF4D6D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 flipV="1">
            <a:off x="4937760" y="3200400"/>
            <a:ext cx="1463040" cy="640080"/>
          </a:xfrm>
          <a:prstGeom prst="line">
            <a:avLst/>
          </a:prstGeom>
          <a:noFill/>
          <a:ln w="22225">
            <a:solidFill>
              <a:srgbClr val="F28C0F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 flipV="1">
            <a:off x="4937760" y="1371600"/>
            <a:ext cx="1463040" cy="2468880"/>
          </a:xfrm>
          <a:prstGeom prst="line">
            <a:avLst/>
          </a:prstGeom>
          <a:noFill/>
          <a:ln w="22225">
            <a:solidFill>
              <a:srgbClr val="3B5BFF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336792" y="3136392"/>
            <a:ext cx="128016" cy="128016"/>
          </a:xfrm>
          <a:prstGeom prst="ellipse">
            <a:avLst/>
          </a:prstGeom>
          <a:solidFill>
            <a:srgbClr val="F28C0F"/>
          </a:solidFill>
          <a:ln w="12700">
            <a:solidFill>
              <a:srgbClr val="F28C0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36792" y="1307592"/>
            <a:ext cx="128016" cy="128016"/>
          </a:xfrm>
          <a:prstGeom prst="ellipse">
            <a:avLst/>
          </a:prstGeom>
          <a:solidFill>
            <a:srgbClr val="3B5BFF"/>
          </a:solidFill>
          <a:ln w="12700">
            <a:solidFill>
              <a:srgbClr val="3B5B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37960" y="12801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B5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actual grades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537960" y="2194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 residual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537960" y="3063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28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 prediction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F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Eigenvalues and Numerical Stability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0" cy="109728"/>
          </a:xfrm>
          <a:prstGeom prst="rect">
            <a:avLst/>
          </a:prstGeom>
          <a:solidFill>
            <a:srgbClr val="3B5BFF"/>
          </a:solidFill>
          <a:ln w="12700">
            <a:solidFill>
              <a:srgbClr val="3B5B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2286000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0" y="0"/>
            <a:ext cx="2286000" cy="109728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0" y="0"/>
            <a:ext cx="2286000" cy="109728"/>
          </a:xfrm>
          <a:prstGeom prst="rect">
            <a:avLst/>
          </a:prstGeom>
          <a:solidFill>
            <a:srgbClr val="F28C0F"/>
          </a:solidFill>
          <a:ln w="12700">
            <a:solidFill>
              <a:srgbClr val="F28C0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804672"/>
            <a:ext cx="82296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1248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0058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G_sum: one eigenvalue ≈ 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removal: λmin ≈ 50.8, λmax ≈ 706.5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cond(AᵀA) ≈ 13.9  ·  cond(A) ≈ 3.7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0515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F28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the redundant feature eliminates the near-zero eigenvalue and improves conditioning.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12064" y="2066544"/>
            <a:ext cx="3822192" cy="2697480"/>
          </a:xfrm>
          <a:prstGeom prst="rect">
            <a:avLst/>
          </a:prstGeom>
          <a:solidFill>
            <a:srgbClr val="FFFFFF"/>
          </a:solidFill>
          <a:ln w="19050">
            <a:solidFill>
              <a:srgbClr val="3B5BFF"/>
            </a:solidFill>
            <a:prstDash val="solid"/>
          </a:ln>
        </p:spPr>
      </p:sp>
      <p:pic>
        <p:nvPicPr>
          <p:cNvPr id="12" name="Image 0" descr="sp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03120"/>
            <a:ext cx="3749040" cy="262432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4809744" y="2066544"/>
            <a:ext cx="3822192" cy="2697480"/>
          </a:xfrm>
          <a:prstGeom prst="rect">
            <a:avLst/>
          </a:prstGeom>
          <a:solidFill>
            <a:srgbClr val="FFFFFF"/>
          </a:solidFill>
          <a:ln w="19050">
            <a:solidFill>
              <a:srgbClr val="3B5BFF"/>
            </a:solidFill>
            <a:prstDash val="solid"/>
          </a:ln>
        </p:spPr>
      </p:sp>
      <p:pic>
        <p:nvPicPr>
          <p:cNvPr id="14" name="Image 1" descr="ei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103120"/>
            <a:ext cx="3749040" cy="26243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F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Prediction Results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0" cy="109728"/>
          </a:xfrm>
          <a:prstGeom prst="rect">
            <a:avLst/>
          </a:prstGeom>
          <a:solidFill>
            <a:srgbClr val="3B5BFF"/>
          </a:solidFill>
          <a:ln w="12700">
            <a:solidFill>
              <a:srgbClr val="3B5B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2286000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0" y="0"/>
            <a:ext cx="2286000" cy="109728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0" y="0"/>
            <a:ext cx="2286000" cy="109728"/>
          </a:xfrm>
          <a:prstGeom prst="rect">
            <a:avLst/>
          </a:prstGeom>
          <a:solidFill>
            <a:srgbClr val="F28C0F"/>
          </a:solidFill>
          <a:ln w="12700">
            <a:solidFill>
              <a:srgbClr val="F28C0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804672"/>
            <a:ext cx="82296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1248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393192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55448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B5B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B5B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B5B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A99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~1.5–1.6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28C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~1.906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A99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~0.86–0.88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28C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~0.822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457200" y="265176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RMSE: typical error ≈ 1.9 grade points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R²: ≈ 82% of variation in final grades explained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626864" y="969264"/>
            <a:ext cx="4096512" cy="3566160"/>
          </a:xfrm>
          <a:prstGeom prst="rect">
            <a:avLst/>
          </a:prstGeom>
          <a:solidFill>
            <a:srgbClr val="FFFFFF"/>
          </a:solidFill>
          <a:ln w="19050">
            <a:solidFill>
              <a:srgbClr val="3B5BFF"/>
            </a:solidFill>
            <a:prstDash val="solid"/>
          </a:ln>
        </p:spPr>
      </p:sp>
      <p:pic>
        <p:nvPicPr>
          <p:cNvPr id="12" name="Image 0" descr="p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1005840"/>
            <a:ext cx="4023360" cy="349300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63440" y="452628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closer to the diagonal = better predictions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F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Features Influence the Prediction?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0" cy="109728"/>
          </a:xfrm>
          <a:prstGeom prst="rect">
            <a:avLst/>
          </a:prstGeom>
          <a:solidFill>
            <a:srgbClr val="3B5BFF"/>
          </a:solidFill>
          <a:ln w="12700">
            <a:solidFill>
              <a:srgbClr val="3B5B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2286000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0" y="0"/>
            <a:ext cx="2286000" cy="109728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0" y="0"/>
            <a:ext cx="2286000" cy="109728"/>
          </a:xfrm>
          <a:prstGeom prst="rect">
            <a:avLst/>
          </a:prstGeom>
          <a:solidFill>
            <a:srgbClr val="F28C0F"/>
          </a:solidFill>
          <a:ln w="12700">
            <a:solidFill>
              <a:srgbClr val="F28C0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804672"/>
            <a:ext cx="82296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1248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0624" y="1014984"/>
            <a:ext cx="4187952" cy="3511296"/>
          </a:xfrm>
          <a:prstGeom prst="rect">
            <a:avLst/>
          </a:prstGeom>
          <a:solidFill>
            <a:srgbClr val="FFFFFF"/>
          </a:solidFill>
          <a:ln w="19050">
            <a:solidFill>
              <a:srgbClr val="3B5BFF"/>
            </a:solidFill>
            <a:prstDash val="solid"/>
          </a:ln>
        </p:spPr>
      </p:sp>
      <p:pic>
        <p:nvPicPr>
          <p:cNvPr id="10" name="Image 0" descr="fe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4114800" cy="3438144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4937760" y="1188720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coefficient → raises predicted G3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coefficient → lowers predicted G3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|coefficient| → stronger influence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937760" y="3017520"/>
            <a:ext cx="374904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5875">
            <a:solidFill>
              <a:srgbClr val="F28C0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937760" y="3017520"/>
            <a:ext cx="3749040" cy="1188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 has the strongest positive influence — it captures the student's previous-period performance.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F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0" cy="109728"/>
          </a:xfrm>
          <a:prstGeom prst="rect">
            <a:avLst/>
          </a:prstGeom>
          <a:solidFill>
            <a:srgbClr val="3B5BFF"/>
          </a:solidFill>
          <a:ln w="12700">
            <a:solidFill>
              <a:srgbClr val="3B5B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2286000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0" y="0"/>
            <a:ext cx="2286000" cy="109728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0" y="0"/>
            <a:ext cx="2286000" cy="109728"/>
          </a:xfrm>
          <a:prstGeom prst="rect">
            <a:avLst/>
          </a:prstGeom>
          <a:solidFill>
            <a:srgbClr val="F28C0F"/>
          </a:solidFill>
          <a:ln w="12700">
            <a:solidFill>
              <a:srgbClr val="F28C0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804672"/>
            <a:ext cx="82296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1248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005840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RREF exposed redundant information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&amp; nullity: independent directions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Gram-Schmidt / QR: stable orthonormal basis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Projection: closest prediction in Col(A)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Eigenvalues: conditioning &amp; multicollinearity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R² ≈ 0.82 on unseen data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1097280"/>
            <a:ext cx="4114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8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“Linear algebra is not only theoretical — it provides the mathematical foundation for real-world prediction models.”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365760" y="3657600"/>
            <a:ext cx="804672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3B5B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5760" y="3657600"/>
            <a:ext cx="804672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170432" y="4023360"/>
            <a:ext cx="155448" cy="0"/>
          </a:xfrm>
          <a:prstGeom prst="line">
            <a:avLst/>
          </a:prstGeom>
          <a:noFill/>
          <a:ln w="22225">
            <a:solidFill>
              <a:srgbClr val="5B628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325880" y="3657600"/>
            <a:ext cx="804672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00A99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325880" y="3657600"/>
            <a:ext cx="804672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130552" y="4023360"/>
            <a:ext cx="155448" cy="0"/>
          </a:xfrm>
          <a:prstGeom prst="line">
            <a:avLst/>
          </a:prstGeom>
          <a:noFill/>
          <a:ln w="22225">
            <a:solidFill>
              <a:srgbClr val="5B628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286000" y="3657600"/>
            <a:ext cx="804672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F28C0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286000" y="3657600"/>
            <a:ext cx="804672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RREF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090672" y="4023360"/>
            <a:ext cx="155448" cy="0"/>
          </a:xfrm>
          <a:prstGeom prst="line">
            <a:avLst/>
          </a:prstGeom>
          <a:noFill/>
          <a:ln w="22225">
            <a:solidFill>
              <a:srgbClr val="5B628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246120" y="3657600"/>
            <a:ext cx="804672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FF4D6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246120" y="3657600"/>
            <a:ext cx="804672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Features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050792" y="4023360"/>
            <a:ext cx="155448" cy="0"/>
          </a:xfrm>
          <a:prstGeom prst="line">
            <a:avLst/>
          </a:prstGeom>
          <a:noFill/>
          <a:ln w="22225">
            <a:solidFill>
              <a:srgbClr val="5B628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206240" y="3657600"/>
            <a:ext cx="804672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3B5B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206240" y="3657600"/>
            <a:ext cx="804672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Gram-Schmidt / QR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10912" y="4023360"/>
            <a:ext cx="155448" cy="0"/>
          </a:xfrm>
          <a:prstGeom prst="line">
            <a:avLst/>
          </a:prstGeom>
          <a:noFill/>
          <a:ln w="22225">
            <a:solidFill>
              <a:srgbClr val="5B6280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166360" y="3657600"/>
            <a:ext cx="804672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00A99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166360" y="3657600"/>
            <a:ext cx="804672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971032" y="4023360"/>
            <a:ext cx="155448" cy="0"/>
          </a:xfrm>
          <a:prstGeom prst="line">
            <a:avLst/>
          </a:prstGeom>
          <a:noFill/>
          <a:ln w="22225">
            <a:solidFill>
              <a:srgbClr val="5B6280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126480" y="3657600"/>
            <a:ext cx="804672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F28C0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126480" y="3657600"/>
            <a:ext cx="804672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Squares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931152" y="4023360"/>
            <a:ext cx="155448" cy="0"/>
          </a:xfrm>
          <a:prstGeom prst="line">
            <a:avLst/>
          </a:prstGeom>
          <a:noFill/>
          <a:ln w="22225">
            <a:solidFill>
              <a:srgbClr val="5B6280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7086600" y="3657600"/>
            <a:ext cx="804672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FF4D6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086600" y="3657600"/>
            <a:ext cx="804672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Eigenvalues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891272" y="4023360"/>
            <a:ext cx="155448" cy="0"/>
          </a:xfrm>
          <a:prstGeom prst="line">
            <a:avLst/>
          </a:prstGeom>
          <a:noFill/>
          <a:ln w="22225">
            <a:solidFill>
              <a:srgbClr val="5B6280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8046720" y="3657600"/>
            <a:ext cx="804672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3B5B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046720" y="3657600"/>
            <a:ext cx="804672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2026-10-07T05:38:15Z</dcterms:created>
  <dcterms:modified xsi:type="dcterms:W3CDTF">2026-10-07T05:38:15Z</dcterms:modified>
</cp:coreProperties>
</file>